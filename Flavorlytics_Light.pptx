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Online Order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DCE6E6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B243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B243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Online Order</c:v>
                </c:pt>
                <c:pt idx="1">
                  <c:v>No Online Order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58.9</c:v>
                </c:pt>
                <c:pt idx="1">
                  <c:v>41.1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Table Booking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bubble3D val="0"/>
            <c:spPr>
              <a:solidFill>
                <a:srgbClr val="DCE6E6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B243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B243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Table Booking</c:v>
                </c:pt>
                <c:pt idx="1">
                  <c:v>No Table Booking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12.5</c:v>
                </c:pt>
                <c:pt idx="1">
                  <c:v>87.5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cost for two (₹)</c:v>
                </c:pt>
              </c:strCache>
            </c:strRef>
          </c:tx>
          <c:spPr>
            <a:solidFill>
              <a:srgbClr val="E08E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Church St</c:v>
                  </c:pt>
                  <c:pt idx="1">
                    <c:v>Brigade Rd</c:v>
                  </c:pt>
                  <c:pt idx="2">
                    <c:v>Indiranagar</c:v>
                  </c:pt>
                  <c:pt idx="3">
                    <c:v>Bellandur</c:v>
                  </c:pt>
                  <c:pt idx="4">
                    <c:v>Koram. 4th</c:v>
                  </c:pt>
                  <c:pt idx="5">
                    <c:v>BTM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728</c:v>
                </c:pt>
                <c:pt idx="1">
                  <c:v>724</c:v>
                </c:pt>
                <c:pt idx="2">
                  <c:v>628</c:v>
                </c:pt>
                <c:pt idx="3">
                  <c:v>563</c:v>
                </c:pt>
                <c:pt idx="4">
                  <c:v>527</c:v>
                </c:pt>
                <c:pt idx="5">
                  <c:v>498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Listing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E08E45"/>
              </a:solidFill>
              <a:effectLst/>
            </c:spPr>
          </c:dPt>
          <c:dPt>
            <c:idx val="3"/>
            <c:bubble3D val="0"/>
            <c:spPr>
              <a:solidFill>
                <a:srgbClr val="DCE6E6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Delivery</c:v>
                </c:pt>
                <c:pt idx="1">
                  <c:v>Dine-out</c:v>
                </c:pt>
                <c:pt idx="2">
                  <c:v>Desserts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50.2</c:v>
                </c:pt>
                <c:pt idx="1">
                  <c:v>34.4</c:v>
                </c:pt>
                <c:pt idx="2">
                  <c:v>6.95</c:v>
                </c:pt>
                <c:pt idx="3">
                  <c:v>8.45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5B6B7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Cuisine mentions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Cafe</c:v>
                  </c:pt>
                  <c:pt idx="1">
                    <c:v>Fast Food</c:v>
                  </c:pt>
                  <c:pt idx="2">
                    <c:v>Biryani</c:v>
                  </c:pt>
                  <c:pt idx="3">
                    <c:v>South Indian</c:v>
                  </c:pt>
                  <c:pt idx="4">
                    <c:v>N. Ind.+Chinese</c:v>
                  </c:pt>
                  <c:pt idx="5">
                    <c:v>North Indian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715</c:v>
                </c:pt>
                <c:pt idx="1">
                  <c:v>736</c:v>
                </c:pt>
                <c:pt idx="2">
                  <c:v>883</c:v>
                </c:pt>
                <c:pt idx="3">
                  <c:v>1735</c:v>
                </c:pt>
                <c:pt idx="4">
                  <c:v>2297</c:v>
                </c:pt>
                <c:pt idx="5">
                  <c:v>2717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C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 count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BTM</c:v>
                  </c:pt>
                  <c:pt idx="1">
                    <c:v>Koram. 7th</c:v>
                  </c:pt>
                  <c:pt idx="2">
                    <c:v>Koram. 5th</c:v>
                  </c:pt>
                  <c:pt idx="3">
                    <c:v>Koram. 4th</c:v>
                  </c:pt>
                  <c:pt idx="4">
                    <c:v>Koram. 6th</c:v>
                  </c:pt>
                  <c:pt idx="5">
                    <c:v>Jayanagar</c:v>
                  </c:pt>
                  <c:pt idx="6">
                    <c:v>JP Nagar</c:v>
                  </c:pt>
                  <c:pt idx="7">
                    <c:v>Church St</c:v>
                  </c:pt>
                  <c:pt idx="8">
                    <c:v>MG Road</c:v>
                  </c:pt>
                  <c:pt idx="9">
                    <c:v>Indiranagar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3094</c:v>
                </c:pt>
                <c:pt idx="1">
                  <c:v>2800</c:v>
                </c:pt>
                <c:pt idx="2">
                  <c:v>2686</c:v>
                </c:pt>
                <c:pt idx="3">
                  <c:v>2649</c:v>
                </c:pt>
                <c:pt idx="4">
                  <c:v>2464</c:v>
                </c:pt>
                <c:pt idx="5">
                  <c:v>2283</c:v>
                </c:pt>
                <c:pt idx="6">
                  <c:v>1957</c:v>
                </c:pt>
                <c:pt idx="7">
                  <c:v>1724</c:v>
                </c:pt>
                <c:pt idx="8">
                  <c:v>1711</c:v>
                </c:pt>
                <c:pt idx="9">
                  <c:v>1706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Random Forest</c:v>
                  </c:pt>
                  <c:pt idx="1">
                    <c:v>Bagging</c:v>
                  </c:pt>
                  <c:pt idx="2">
                    <c:v>Decision Tree</c:v>
                  </c:pt>
                  <c:pt idx="3">
                    <c:v>AdaBoost</c:v>
                  </c:pt>
                  <c:pt idx="4">
                    <c:v>Grad. Boost</c:v>
                  </c:pt>
                  <c:pt idx="5">
                    <c:v>XGBoost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0.466</c:v>
                </c:pt>
                <c:pt idx="1">
                  <c:v>0.453</c:v>
                </c:pt>
                <c:pt idx="2">
                  <c:v>0.444</c:v>
                </c:pt>
                <c:pt idx="3">
                  <c:v>0.422</c:v>
                </c:pt>
                <c:pt idx="4">
                  <c:v>0.31</c:v>
                </c:pt>
                <c:pt idx="5">
                  <c:v>0.309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029200" cy="5029200"/>
          </a:xfrm>
          <a:prstGeom prst="ellipse">
            <a:avLst/>
          </a:prstGeom>
          <a:solidFill>
            <a:srgbClr val="02809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00A896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INTELLIGENCE  //  BENGALURU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FLAVORLYTICS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analysis of </a:t>
            </a:r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51,717 Zomato restaurant listings</a:t>
            </a:r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Bengaluru — decoding what drives ratings, pricing, and success.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937760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37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490472" y="4937760"/>
            <a:ext cx="1490472" cy="365760"/>
          </a:xfrm>
          <a:prstGeom prst="roundRect">
            <a:avLst>
              <a:gd name="adj" fmla="val 5000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0472" y="493776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Plotly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45536" y="4937760"/>
            <a:ext cx="1655064" cy="365760"/>
          </a:xfrm>
          <a:prstGeom prst="roundRect">
            <a:avLst>
              <a:gd name="adj" fmla="val 5000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5536" y="493776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65192" y="49377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4937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an independent EDA &amp; ML project on the public Zomato Bangalore dataset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50292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02920"/>
            <a:ext cx="45720" cy="457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10853928" y="50292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0597896" y="502920"/>
            <a:ext cx="45720" cy="457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50292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&amp;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51,717 raw listings to a working success predictor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801368"/>
            <a:ext cx="457200" cy="457200"/>
          </a:xfrm>
          <a:prstGeom prst="ellipse">
            <a:avLst/>
          </a:prstGeom>
          <a:solidFill>
            <a:srgbClr val="028090">
              <a:alpha val="14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1248" y="237744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Clean &amp; Structure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" y="274320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resolved, cost/rate types fixed, de-duplicated to 49,098 reliable rows.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3410712" y="16002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11880" y="1801368"/>
            <a:ext cx="457200" cy="457200"/>
          </a:xfrm>
          <a:prstGeom prst="ellipse">
            <a:avLst/>
          </a:prstGeom>
          <a:solidFill>
            <a:srgbClr val="00A896">
              <a:alpha val="14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920240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11880" y="237744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Explore &amp; Visualise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611880" y="274320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pricing, cuisines &amp; facilities across 30 city zones.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6181344" y="16002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82512" y="1801368"/>
            <a:ext cx="457200" cy="457200"/>
          </a:xfrm>
          <a:prstGeom prst="ellipse">
            <a:avLst/>
          </a:prstGeom>
          <a:solidFill>
            <a:srgbClr val="028090">
              <a:alpha val="14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920240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82512" y="237744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 Success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82512" y="274320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+ classification to flag likely-successful new restaurants.</a:t>
            </a:r>
            <a:endParaRPr lang="en-US" sz="980" dirty="0"/>
          </a:p>
        </p:txBody>
      </p:sp>
      <p:sp>
        <p:nvSpPr>
          <p:cNvPr id="24" name="Shape 19"/>
          <p:cNvSpPr/>
          <p:nvPr/>
        </p:nvSpPr>
        <p:spPr>
          <a:xfrm>
            <a:off x="8951976" y="16002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153144" y="1801368"/>
            <a:ext cx="457200" cy="457200"/>
          </a:xfrm>
          <a:prstGeom prst="ellipse">
            <a:avLst/>
          </a:prstGeom>
          <a:solidFill>
            <a:srgbClr val="00A896">
              <a:alpha val="14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1920240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53144" y="237744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Sentiment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153144" y="2743200"/>
            <a:ext cx="22037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on reviews to surface drivers of dissatisfaction.</a:t>
            </a:r>
            <a:endParaRPr lang="en-US" sz="980" dirty="0"/>
          </a:p>
        </p:txBody>
      </p:sp>
      <p:sp>
        <p:nvSpPr>
          <p:cNvPr id="29" name="Shape 23"/>
          <p:cNvSpPr/>
          <p:nvPr/>
        </p:nvSpPr>
        <p:spPr>
          <a:xfrm>
            <a:off x="640080" y="3977640"/>
            <a:ext cx="26060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sx="100000" sy="100000" kx="0" ky="0" algn="bl" rotWithShape="0" blurRad="88900" dist="25400" dir="5400000">
              <a:srgbClr val="B7C4C4">
                <a:alpha val="35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777240" y="408736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51,717 → 49,098</a:t>
            </a:r>
            <a:endParaRPr lang="en-US" sz="2400" dirty="0"/>
          </a:p>
        </p:txBody>
      </p:sp>
      <p:sp>
        <p:nvSpPr>
          <p:cNvPr id="31" name="Text 25"/>
          <p:cNvSpPr/>
          <p:nvPr/>
        </p:nvSpPr>
        <p:spPr>
          <a:xfrm>
            <a:off x="777240" y="4882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rows, raw → cleaned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410712" y="3977640"/>
            <a:ext cx="26060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sx="100000" sy="100000" kx="0" ky="0" algn="bl" rotWithShape="0" blurRad="88900" dist="25400" dir="5400000">
              <a:srgbClr val="B7C4C4">
                <a:alpha val="35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3547872" y="408736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8,792</a:t>
            </a:r>
            <a:endParaRPr lang="en-US" sz="2400" dirty="0"/>
          </a:p>
        </p:txBody>
      </p:sp>
      <p:sp>
        <p:nvSpPr>
          <p:cNvPr id="34" name="Text 28"/>
          <p:cNvSpPr/>
          <p:nvPr/>
        </p:nvSpPr>
        <p:spPr>
          <a:xfrm>
            <a:off x="3547872" y="4882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restaurant names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181344" y="3977640"/>
            <a:ext cx="26060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sx="100000" sy="100000" kx="0" ky="0" algn="bl" rotWithShape="0" blurRad="88900" dist="25400" dir="5400000">
              <a:srgbClr val="B7C4C4">
                <a:alpha val="35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6318504" y="408736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2400" dirty="0"/>
          </a:p>
        </p:txBody>
      </p:sp>
      <p:sp>
        <p:nvSpPr>
          <p:cNvPr id="37" name="Text 31"/>
          <p:cNvSpPr/>
          <p:nvPr/>
        </p:nvSpPr>
        <p:spPr>
          <a:xfrm>
            <a:off x="6318504" y="4882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city zones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8951976" y="3977640"/>
            <a:ext cx="26060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sx="100000" sy="100000" kx="0" ky="0" algn="bl" rotWithShape="0" blurRad="88900" dist="25400" dir="5400000">
              <a:srgbClr val="B7C4C4">
                <a:alpha val="35000"/>
              </a:srgbClr>
            </a:outerShdw>
          </a:effectLst>
        </p:spPr>
      </p:sp>
      <p:sp>
        <p:nvSpPr>
          <p:cNvPr id="39" name="Text 33"/>
          <p:cNvSpPr/>
          <p:nvPr/>
        </p:nvSpPr>
        <p:spPr>
          <a:xfrm>
            <a:off x="9089136" y="4087368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2,604</a:t>
            </a:r>
            <a:endParaRPr lang="en-US" sz="2400" dirty="0"/>
          </a:p>
        </p:txBody>
      </p:sp>
      <p:sp>
        <p:nvSpPr>
          <p:cNvPr id="40" name="Text 34"/>
          <p:cNvSpPr/>
          <p:nvPr/>
        </p:nvSpPr>
        <p:spPr>
          <a:xfrm>
            <a:off x="9089136" y="4882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cuisine tags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cleaning:  </a:t>
            </a:r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Zomato Bangalore dataset (Kaggle). ~2,277 "NEW" (zero-vote) listings excluded from rating analysis; missing rate/cost fields handled via targeted imputation.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50292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02920"/>
            <a:ext cx="45720" cy="457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10853928" y="50292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0597896" y="502920"/>
            <a:ext cx="45720" cy="457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50292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&amp; RATINGS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Digital adoption is low, but booking access lifts ratings</a:t>
            </a:r>
            <a:endParaRPr lang="en-US" sz="2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600200"/>
          <a:ext cx="3200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58.9%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0292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</a:t>
            </a:r>
            <a:endParaRPr lang="en-US" sz="9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3794760" y="1600200"/>
          <a:ext cx="3200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379476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12.5%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79476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BOOKING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315200" y="1600200"/>
            <a:ext cx="4251960" cy="1691640"/>
          </a:xfrm>
          <a:prstGeom prst="roundRect">
            <a:avLst>
              <a:gd name="adj" fmla="val 5405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0" y="17373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Most ratings fall 3.5–4.5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498080" y="210312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right-skew — genuinely poor (&lt;3) or exceptional (&gt;4.5) outlets are the minority.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315200" y="3429000"/>
            <a:ext cx="4251960" cy="1691640"/>
          </a:xfrm>
          <a:prstGeom prst="roundRect">
            <a:avLst>
              <a:gd name="adj" fmla="val 5405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98080" y="356616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Booking access moves ratings more than delivery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7498080" y="411480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Table-booking-enabled restaurants skew meaningfully higher-rated; online-order availability shifts ratings only slightly.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02920" y="53492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85800" y="5349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Premium-venue pattern:  </a:t>
            </a:r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top 100 costliest restaurants, 97% skip online ordering but 87% take table bookings.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50292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02920"/>
            <a:ext cx="45720" cy="457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10853928" y="50292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0597896" y="502920"/>
            <a:ext cx="45720" cy="457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50292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CUISINE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Premium zones reward diners; North Indian &amp; Delivery dominate</a:t>
            </a:r>
            <a:endParaRPr lang="en-US" sz="2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60020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172200" y="160020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2" descr=""/>
          <p:cNvGraphicFramePr/>
          <p:nvPr/>
        </p:nvGraphicFramePr>
        <p:xfrm>
          <a:off x="502920" y="4160520"/>
          <a:ext cx="54864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Shape 7"/>
          <p:cNvSpPr/>
          <p:nvPr/>
        </p:nvSpPr>
        <p:spPr>
          <a:xfrm>
            <a:off x="6172200" y="41605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35508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Cost vs. rating &amp; top spend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355080" y="466344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Church St, Brigade Rd, Lavelle Rd &amp; Indiranagar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fine-dining corridor.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Restaurants above ₹4,000 show fewer low ratings.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5 priciest: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Cirque (Leela Palace) ₹6,000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leads, followed by Royal Afghan (ITC Windsor) ₹5,000.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50292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02920"/>
            <a:ext cx="45720" cy="457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10853928" y="50292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0597896" y="502920"/>
            <a:ext cx="45720" cy="457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50292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OF DEMAND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Koramangala &amp; BTM are Bengaluru's food gravity wells</a:t>
            </a:r>
            <a:endParaRPr lang="en-US" sz="2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600200"/>
          <a:ext cx="65836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315200" y="1600200"/>
            <a:ext cx="4251960" cy="2011680"/>
          </a:xfrm>
          <a:prstGeom prst="roundRect">
            <a:avLst>
              <a:gd name="adj" fmla="val 4545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0" y="17373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Quick Bites leads format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98080" y="2103120"/>
            <a:ext cx="3886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17,922 listings are Quick Bites and 10,011 are Casual Dining — over half the dataset. Five Star Chicken, McDonald's &amp; Domino's top the brand count.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0" y="3749040"/>
            <a:ext cx="4251960" cy="2194560"/>
          </a:xfrm>
          <a:prstGeom prst="roundRect">
            <a:avLst>
              <a:gd name="adj" fmla="val 4167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0" y="38862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Most-voted restaurant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498080" y="4251960"/>
            <a:ext cx="3886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 Brewski Brewing Company 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(Sarjapur Rd) tops the dataset at </a:t>
            </a:r>
            <a:pPr indent="0" marL="0">
              <a:buNone/>
            </a:pPr>
            <a:r>
              <a:rPr lang="en-US" sz="1050" b="1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16,832 votes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clear popularity signal beyond rating alone.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992" y="50292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02920"/>
            <a:ext cx="45720" cy="457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10853928" y="50292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0597896" y="502920"/>
            <a:ext cx="45720" cy="457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10341864" y="502920"/>
            <a:ext cx="45720" cy="45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90.8%-accurate success classifier for new restaurants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6276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1847088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ratings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 &amp; XGBoost)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255264" y="1554480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6276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64992" y="1847088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(222 features)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007608" y="1554480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6276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17336" y="1847088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85/15 train/test split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8759952" y="1554480"/>
            <a:ext cx="2606040" cy="777240"/>
          </a:xfrm>
          <a:prstGeom prst="roundRect">
            <a:avLst>
              <a:gd name="adj" fmla="val 10588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16276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0" y="1847088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success label</a:t>
            </a:r>
            <a:endParaRPr lang="en-US" sz="93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502920" y="2606040"/>
          <a:ext cx="60350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6720840" y="260604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sx="100000" sy="100000" kx="0" ky="0" algn="bl" rotWithShape="0" blurRad="88900" dist="25400" dir="5400000">
              <a:srgbClr val="B7C4C4">
                <a:alpha val="3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858000" y="2715768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90.8%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58000" y="35570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success classification accuracy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235440" y="2606040"/>
            <a:ext cx="2423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6"/>
            </a:solidFill>
            <a:prstDash val="solid"/>
          </a:ln>
          <a:effectLst>
            <a:outerShdw sx="100000" sy="100000" kx="0" ky="0" algn="bl" rotWithShape="0" blurRad="88900" dist="25400" dir="5400000">
              <a:srgbClr val="B7C4C4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372600" y="2715768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08E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369 / 2,270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9372600" y="35570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restaurants predicted "Success"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720840" y="4114800"/>
            <a:ext cx="4937760" cy="1874520"/>
          </a:xfrm>
          <a:prstGeom prst="roundRect">
            <a:avLst>
              <a:gd name="adj" fmla="val 4878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0372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Applied to new outlets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903720" y="4572000"/>
            <a:ext cx="4572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2,270 recently listed restaurants with no votes yet, the classifier flagged 369 as likely Success and 1,901 as likely Failure — based on location, cuisine, cost, and service-facility patterns learned from established outlets.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8090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3840480"/>
            <a:ext cx="5029200" cy="5029200"/>
          </a:xfrm>
          <a:prstGeom prst="ellipse">
            <a:avLst/>
          </a:prstGeom>
          <a:solidFill>
            <a:srgbClr val="00A896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Reviews confirm the signal — and the project ties it together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2286000" cy="1965960"/>
          </a:xfrm>
          <a:prstGeom prst="roundRect">
            <a:avLst>
              <a:gd name="adj" fmla="val 4651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764792"/>
            <a:ext cx="384048" cy="384048"/>
          </a:xfrm>
          <a:prstGeom prst="ellipse">
            <a:avLst/>
          </a:prstGeom>
          <a:solidFill>
            <a:srgbClr val="028090">
              <a:alpha val="14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65376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7512" y="224028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Text mining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" y="2560320"/>
            <a:ext cx="19568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reviews_list into snippets paired with star rating.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953512" y="1600200"/>
            <a:ext cx="2286000" cy="1965960"/>
          </a:xfrm>
          <a:prstGeom prst="roundRect">
            <a:avLst>
              <a:gd name="adj" fmla="val 4651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18104" y="1764792"/>
            <a:ext cx="384048" cy="384048"/>
          </a:xfrm>
          <a:prstGeom prst="ellipse">
            <a:avLst/>
          </a:prstGeom>
          <a:solidFill>
            <a:srgbClr val="E08E45">
              <a:alpha val="14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865376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18104" y="224028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Polarity scoring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118104" y="2560320"/>
            <a:ext cx="19568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 + WordCloud on low-rated reviews.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04104" y="1600200"/>
            <a:ext cx="2286000" cy="1965960"/>
          </a:xfrm>
          <a:prstGeom prst="roundRect">
            <a:avLst>
              <a:gd name="adj" fmla="val 4651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568696" y="1764792"/>
            <a:ext cx="384048" cy="384048"/>
          </a:xfrm>
          <a:prstGeom prst="ellipse">
            <a:avLst/>
          </a:prstGeom>
          <a:solidFill>
            <a:srgbClr val="028090">
              <a:alpha val="14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865376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68696" y="224028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568696" y="2560320"/>
            <a:ext cx="19568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negative sentiment to sub-3★ outlets — service pace, order accuracy, consistency.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02920" y="3657600"/>
            <a:ext cx="7187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full review text was available for 287 outlets; sentiment analysis covers this subset.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818120" y="1600200"/>
            <a:ext cx="3840480" cy="3429000"/>
          </a:xfrm>
          <a:prstGeom prst="roundRect">
            <a:avLst>
              <a:gd name="adj" fmla="val 2667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00100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028432" y="21579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0"/>
          <p:cNvSpPr/>
          <p:nvPr/>
        </p:nvSpPr>
        <p:spPr>
          <a:xfrm>
            <a:off x="8247888" y="202996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digital-adoption gap: only 58.9% offer online order, 12.5% table booking.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028432" y="28895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2"/>
          <p:cNvSpPr/>
          <p:nvPr/>
        </p:nvSpPr>
        <p:spPr>
          <a:xfrm>
            <a:off x="8247888" y="27614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Koramangala &amp; BTM lead both volume and top-rated share.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028432" y="36210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4"/>
          <p:cNvSpPr/>
          <p:nvPr/>
        </p:nvSpPr>
        <p:spPr>
          <a:xfrm>
            <a:off x="8247888" y="349300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90.8%-accurate success classifier built from location, cost &amp; facility features.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028432" y="435254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6"/>
          <p:cNvSpPr/>
          <p:nvPr/>
        </p:nvSpPr>
        <p:spPr>
          <a:xfrm>
            <a:off x="8247888" y="42245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 ties negative reviews to specific service failures.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02920" y="3886200"/>
            <a:ext cx="6995160" cy="1737360"/>
          </a:xfrm>
          <a:prstGeom prst="roundRect">
            <a:avLst>
              <a:gd name="adj" fmla="val 5263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85800" y="4023360"/>
            <a:ext cx="6629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 · Pandas · Plotly/Seaborn · scikit-learn · XGBoost · TextBlob · WordCloud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685800" y="4434840"/>
            <a:ext cx="6629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moves from raw, messy Zomato listings to a cleaned dataset, city-level market insight, and a working ML model that predicts whether a new restaurant is likely to succeed — closing the loop from exploration to prediction.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FLAVORLYTICS  //  Restaurant Analytics, Bengaluru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1118311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Flavorlytics - Restaurant Analytics</dc:title>
  <dc:subject>PptxGenJS Presentation</dc:subject>
  <dc:creator>Flavorlytics</dc:creator>
  <cp:lastModifiedBy>Flavorlytics</cp:lastModifiedBy>
  <cp:revision>1</cp:revision>
  <dcterms:created xsi:type="dcterms:W3CDTF">2026-07-02T19:09:28Z</dcterms:created>
  <dcterms:modified xsi:type="dcterms:W3CDTF">2026-07-02T19:09:28Z</dcterms:modified>
</cp:coreProperties>
</file>