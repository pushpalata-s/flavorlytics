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Online Order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DDC97"/>
              </a:solidFill>
              <a:effectLst/>
            </c:spPr>
          </c:dPt>
          <c:dPt>
            <c:idx val="1"/>
            <c:bubble3D val="0"/>
            <c:spPr>
              <a:solidFill>
                <a:srgbClr val="1E2740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EAF0F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EAF0F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Offers Online Order</c:v>
                </c:pt>
                <c:pt idx="1">
                  <c:v>No Online Order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58.9</c:v>
                </c:pt>
                <c:pt idx="1">
                  <c:v>41.1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Table Booking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D4FF"/>
              </a:solidFill>
              <a:effectLst/>
            </c:spPr>
          </c:dPt>
          <c:dPt>
            <c:idx val="1"/>
            <c:bubble3D val="0"/>
            <c:spPr>
              <a:solidFill>
                <a:srgbClr val="1E2740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EAF0F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EAF0F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Offers Table Booking</c:v>
                </c:pt>
                <c:pt idx="1">
                  <c:v>No Table Booking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12.5</c:v>
                </c:pt>
                <c:pt idx="1">
                  <c:v>87.5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High-rated %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EAF0F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BTM</c:v>
                  </c:pt>
                  <c:pt idx="1">
                    <c:v>Koram. 6th</c:v>
                  </c:pt>
                  <c:pt idx="2">
                    <c:v>Indiranagar</c:v>
                  </c:pt>
                  <c:pt idx="3">
                    <c:v>Lavelle Rd</c:v>
                  </c:pt>
                  <c:pt idx="4">
                    <c:v>MG Road</c:v>
                  </c:pt>
                  <c:pt idx="5">
                    <c:v>Koram. 4th</c:v>
                  </c:pt>
                  <c:pt idx="6">
                    <c:v>Koram. 7th</c:v>
                  </c:pt>
                  <c:pt idx="7">
                    <c:v>Koram. 5th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3.1</c:v>
                </c:pt>
                <c:pt idx="1">
                  <c:v>3.8</c:v>
                </c:pt>
                <c:pt idx="2">
                  <c:v>2.8</c:v>
                </c:pt>
                <c:pt idx="3">
                  <c:v>3</c:v>
                </c:pt>
                <c:pt idx="4">
                  <c:v>3.1</c:v>
                </c:pt>
                <c:pt idx="5">
                  <c:v>4</c:v>
                </c:pt>
                <c:pt idx="6">
                  <c:v>3.8</c:v>
                </c:pt>
                <c:pt idx="7">
                  <c:v>4.1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EAF0F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9B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E27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9B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524"/>
        </a:solidFill>
        <a:ln>
          <a:noFill/>
        </a:ln>
        <a:effectLst/>
      </c:spPr>
    </c:plotArea>
    <c:plotVisOnly val="1"/>
    <c:dispBlanksAs val="span"/>
  </c:chart>
  <c:spPr>
    <a:solidFill>
      <a:srgbClr val="00000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cost for two (₹)</c:v>
                </c:pt>
              </c:strCache>
            </c:strRef>
          </c:tx>
          <c:spPr>
            <a:solidFill>
              <a:srgbClr val="FFB8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EAF0F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Church St</c:v>
                  </c:pt>
                  <c:pt idx="1">
                    <c:v>Brigade Rd</c:v>
                  </c:pt>
                  <c:pt idx="2">
                    <c:v>Indiranagar</c:v>
                  </c:pt>
                  <c:pt idx="3">
                    <c:v>Bellandur</c:v>
                  </c:pt>
                  <c:pt idx="4">
                    <c:v>Frazer Town</c:v>
                  </c:pt>
                  <c:pt idx="5">
                    <c:v>Koram. 4th</c:v>
                  </c:pt>
                  <c:pt idx="6">
                    <c:v>BTM</c:v>
                  </c:pt>
                  <c:pt idx="7">
                    <c:v>Banashankari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728</c:v>
                </c:pt>
                <c:pt idx="1">
                  <c:v>724</c:v>
                </c:pt>
                <c:pt idx="2">
                  <c:v>628</c:v>
                </c:pt>
                <c:pt idx="3">
                  <c:v>563</c:v>
                </c:pt>
                <c:pt idx="4">
                  <c:v>559</c:v>
                </c:pt>
                <c:pt idx="5">
                  <c:v>527</c:v>
                </c:pt>
                <c:pt idx="6">
                  <c:v>498</c:v>
                </c:pt>
                <c:pt idx="7">
                  <c:v>408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EAF0F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9B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E27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9B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524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Listing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DDC97"/>
              </a:solidFill>
              <a:effectLst/>
            </c:spPr>
          </c:dPt>
          <c:dPt>
            <c:idx val="1"/>
            <c:bubble3D val="0"/>
            <c:spPr>
              <a:solidFill>
                <a:srgbClr val="00D4FF"/>
              </a:solidFill>
              <a:effectLst/>
            </c:spPr>
          </c:dPt>
          <c:dPt>
            <c:idx val="2"/>
            <c:bubble3D val="0"/>
            <c:spPr>
              <a:solidFill>
                <a:srgbClr val="FFB84D"/>
              </a:solidFill>
              <a:effectLst/>
            </c:spPr>
          </c:dPt>
          <c:dPt>
            <c:idx val="3"/>
            <c:bubble3D val="0"/>
            <c:spPr>
              <a:solidFill>
                <a:srgbClr val="5C6B87"/>
              </a:solidFill>
              <a:effectLst/>
            </c:spPr>
          </c:dPt>
          <c:dPt>
            <c:idx val="4"/>
            <c:bubble3D val="0"/>
            <c:spPr>
              <a:solidFill>
                <a:srgbClr val="8C9BB5"/>
              </a:solidFill>
              <a:effectLst/>
            </c:spPr>
          </c:dPt>
          <c:dPt>
            <c:idx val="5"/>
            <c:bubble3D val="0"/>
            <c:spPr>
              <a:solidFill>
                <a:srgbClr val="2A3654"/>
              </a:solidFill>
              <a:effectLst/>
            </c:spPr>
          </c:dPt>
          <c:dPt>
            <c:idx val="6"/>
            <c:bubble3D val="0"/>
            <c:spPr>
              <a:solidFill>
                <a:srgbClr val="3A4668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EAF0F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EAF0F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EAF0F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EAF0F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.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EAF0F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0.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EAF0F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0.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EAF0F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Delivery</c:v>
                </c:pt>
                <c:pt idx="1">
                  <c:v>Dine-out</c:v>
                </c:pt>
                <c:pt idx="2">
                  <c:v>Desserts</c:v>
                </c:pt>
                <c:pt idx="3">
                  <c:v>Cafes</c:v>
                </c:pt>
                <c:pt idx="4">
                  <c:v>Drinks &amp; Nightlife</c:v>
                </c:pt>
                <c:pt idx="5">
                  <c:v>Buffet</c:v>
                </c:pt>
                <c:pt idx="6">
                  <c:v>Pubs &amp; Bars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50.2</c:v>
                </c:pt>
                <c:pt idx="1">
                  <c:v>34.4</c:v>
                </c:pt>
                <c:pt idx="2">
                  <c:v>6.95</c:v>
                </c:pt>
                <c:pt idx="3">
                  <c:v>3.33</c:v>
                </c:pt>
                <c:pt idx="4">
                  <c:v>2.13</c:v>
                </c:pt>
                <c:pt idx="5">
                  <c:v>1.71</c:v>
                </c:pt>
                <c:pt idx="6">
                  <c:v>1.35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C9BB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Cuisine mentions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EAF0F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North Indian</c:v>
                  </c:pt>
                  <c:pt idx="1">
                    <c:v>N. Indian + Chinese</c:v>
                  </c:pt>
                  <c:pt idx="2">
                    <c:v>South Indian</c:v>
                  </c:pt>
                  <c:pt idx="3">
                    <c:v>Biryani</c:v>
                  </c:pt>
                  <c:pt idx="4">
                    <c:v>Bakery &amp; Desserts</c:v>
                  </c:pt>
                  <c:pt idx="5">
                    <c:v>Fast Food</c:v>
                  </c:pt>
                  <c:pt idx="6">
                    <c:v>Cafe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2717</c:v>
                </c:pt>
                <c:pt idx="1">
                  <c:v>2297</c:v>
                </c:pt>
                <c:pt idx="2">
                  <c:v>1735</c:v>
                </c:pt>
                <c:pt idx="3">
                  <c:v>883</c:v>
                </c:pt>
                <c:pt idx="4">
                  <c:v>874</c:v>
                </c:pt>
                <c:pt idx="5">
                  <c:v>736</c:v>
                </c:pt>
                <c:pt idx="6">
                  <c:v>715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EAF0F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9B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E27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9B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524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 count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EAF0F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BTM</c:v>
                  </c:pt>
                  <c:pt idx="1">
                    <c:v>Koram. 7th</c:v>
                  </c:pt>
                  <c:pt idx="2">
                    <c:v>Koram. 5th</c:v>
                  </c:pt>
                  <c:pt idx="3">
                    <c:v>Koram. 4th</c:v>
                  </c:pt>
                  <c:pt idx="4">
                    <c:v>Koram. 6th</c:v>
                  </c:pt>
                  <c:pt idx="5">
                    <c:v>Jayanagar</c:v>
                  </c:pt>
                  <c:pt idx="6">
                    <c:v>JP Nagar</c:v>
                  </c:pt>
                  <c:pt idx="7">
                    <c:v>Church St</c:v>
                  </c:pt>
                  <c:pt idx="8">
                    <c:v>MG Road</c:v>
                  </c:pt>
                  <c:pt idx="9">
                    <c:v>Indiranagar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3094</c:v>
                </c:pt>
                <c:pt idx="1">
                  <c:v>2800</c:v>
                </c:pt>
                <c:pt idx="2">
                  <c:v>2686</c:v>
                </c:pt>
                <c:pt idx="3">
                  <c:v>2649</c:v>
                </c:pt>
                <c:pt idx="4">
                  <c:v>2464</c:v>
                </c:pt>
                <c:pt idx="5">
                  <c:v>2283</c:v>
                </c:pt>
                <c:pt idx="6">
                  <c:v>1957</c:v>
                </c:pt>
                <c:pt idx="7">
                  <c:v>1724</c:v>
                </c:pt>
                <c:pt idx="8">
                  <c:v>1711</c:v>
                </c:pt>
                <c:pt idx="9">
                  <c:v>1706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EAF0F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9B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E27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9B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524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AF0F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Random Forest</c:v>
                  </c:pt>
                  <c:pt idx="1">
                    <c:v>Decision Tree</c:v>
                  </c:pt>
                  <c:pt idx="2">
                    <c:v>Bagging</c:v>
                  </c:pt>
                  <c:pt idx="3">
                    <c:v>AdaBoost</c:v>
                  </c:pt>
                  <c:pt idx="4">
                    <c:v>Gradient Boost</c:v>
                  </c:pt>
                  <c:pt idx="5">
                    <c:v>XGBoost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0.466</c:v>
                </c:pt>
                <c:pt idx="1">
                  <c:v>0.444</c:v>
                </c:pt>
                <c:pt idx="2">
                  <c:v>0.453</c:v>
                </c:pt>
                <c:pt idx="3">
                  <c:v>0.422</c:v>
                </c:pt>
                <c:pt idx="4">
                  <c:v>0.31</c:v>
                </c:pt>
                <c:pt idx="5">
                  <c:v>0.309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EAF0F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9B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E27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9B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524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029200" cy="5029200"/>
          </a:xfrm>
          <a:prstGeom prst="ellipse">
            <a:avLst/>
          </a:prstGeom>
          <a:solidFill>
            <a:srgbClr val="3DDC97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00D4FF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INTELLIGENCE  //  BENGALURU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EAF0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FLAVORLYTICS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analysis of </a:t>
            </a:r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51,717 Zomato restaurant listings</a:t>
            </a:r>
            <a:pPr indent="0" marL="0">
              <a:buNone/>
            </a:pPr>
            <a:r>
              <a:rPr lang="en-US" sz="15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Bengaluru — decoding what drives ratings, pricing, and success.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502920" cy="365760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12700">
            <a:solidFill>
              <a:srgbClr val="1E27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92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490472" y="4892040"/>
            <a:ext cx="1490472" cy="365760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12700">
            <a:solidFill>
              <a:srgbClr val="1E27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0472" y="4892040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Plotly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45536" y="4892040"/>
            <a:ext cx="1655064" cy="365760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12700">
            <a:solidFill>
              <a:srgbClr val="1E27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45536" y="489204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65192" y="489204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12700">
            <a:solidFill>
              <a:srgbClr val="1E27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48920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Sentiment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as an independent EDA &amp; ML project on the public Zomato Bangalore dataset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502920"/>
            <a:ext cx="45720" cy="457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502920"/>
            <a:ext cx="45720" cy="457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10853928" y="502920"/>
            <a:ext cx="45720" cy="457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5" name="Shape 3"/>
          <p:cNvSpPr/>
          <p:nvPr/>
        </p:nvSpPr>
        <p:spPr>
          <a:xfrm>
            <a:off x="10597896" y="502920"/>
            <a:ext cx="45720" cy="457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10341864" y="502920"/>
            <a:ext cx="45720" cy="457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this analysis set out to do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2542032" cy="4160520"/>
          </a:xfrm>
          <a:prstGeom prst="roundRect">
            <a:avLst>
              <a:gd name="adj" fmla="val 3597"/>
            </a:avLst>
          </a:prstGeom>
          <a:solidFill>
            <a:srgbClr val="141B2E"/>
          </a:solidFill>
          <a:ln w="12700">
            <a:solidFill>
              <a:srgbClr val="1E27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1965960"/>
            <a:ext cx="566928" cy="566928"/>
          </a:xfrm>
          <a:prstGeom prst="ellipse">
            <a:avLst/>
          </a:prstGeom>
          <a:solidFill>
            <a:srgbClr val="3DDC97">
              <a:alpha val="18000"/>
            </a:srgbClr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112264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87752" y="18928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C6B8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96112" y="274320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0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Clean &amp; Structure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96112" y="3383280"/>
            <a:ext cx="202996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nulls, standardised rate/cost fields, and de-duplicated 51,717 raw listings down to a reliable 49,098-row working set.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383280" y="1691640"/>
            <a:ext cx="2542032" cy="4160520"/>
          </a:xfrm>
          <a:prstGeom prst="roundRect">
            <a:avLst>
              <a:gd name="adj" fmla="val 3597"/>
            </a:avLst>
          </a:prstGeom>
          <a:solidFill>
            <a:srgbClr val="141B2E"/>
          </a:solidFill>
          <a:ln w="12700">
            <a:solidFill>
              <a:srgbClr val="1E274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39312" y="1965960"/>
            <a:ext cx="566928" cy="566928"/>
          </a:xfrm>
          <a:prstGeom prst="ellipse">
            <a:avLst/>
          </a:prstGeom>
          <a:solidFill>
            <a:srgbClr val="00D4FF">
              <a:alpha val="18000"/>
            </a:srgbClr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2112264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30952" y="18928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C6B8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3639312" y="274320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0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Explore &amp; Visualise</a:t>
            </a:r>
            <a:endParaRPr lang="en-US" sz="1550" dirty="0"/>
          </a:p>
        </p:txBody>
      </p:sp>
      <p:sp>
        <p:nvSpPr>
          <p:cNvPr id="20" name="Text 16"/>
          <p:cNvSpPr/>
          <p:nvPr/>
        </p:nvSpPr>
        <p:spPr>
          <a:xfrm>
            <a:off x="3639312" y="3383280"/>
            <a:ext cx="202996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Profiled ratings, pricing, cuisines, and service facilities across 30 Bengaluru micro-markets.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126480" y="1691640"/>
            <a:ext cx="2542032" cy="4160520"/>
          </a:xfrm>
          <a:prstGeom prst="roundRect">
            <a:avLst>
              <a:gd name="adj" fmla="val 3597"/>
            </a:avLst>
          </a:prstGeom>
          <a:solidFill>
            <a:srgbClr val="141B2E"/>
          </a:solidFill>
          <a:ln w="12700">
            <a:solidFill>
              <a:srgbClr val="1E274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382512" y="1965960"/>
            <a:ext cx="566928" cy="566928"/>
          </a:xfrm>
          <a:prstGeom prst="ellipse">
            <a:avLst/>
          </a:prstGeom>
          <a:solidFill>
            <a:srgbClr val="3DDC97">
              <a:alpha val="18000"/>
            </a:srgbClr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2112264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074152" y="18928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C6B8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382512" y="274320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0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Predict Success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6382512" y="3383280"/>
            <a:ext cx="202996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regression &amp; classification models to flag which new restaurants are likely to succeed.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8869680" y="1691640"/>
            <a:ext cx="2542032" cy="4160520"/>
          </a:xfrm>
          <a:prstGeom prst="roundRect">
            <a:avLst>
              <a:gd name="adj" fmla="val 3597"/>
            </a:avLst>
          </a:prstGeom>
          <a:solidFill>
            <a:srgbClr val="141B2E"/>
          </a:solidFill>
          <a:ln w="12700">
            <a:solidFill>
              <a:srgbClr val="1E274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125712" y="1965960"/>
            <a:ext cx="566928" cy="566928"/>
          </a:xfrm>
          <a:prstGeom prst="ellipse">
            <a:avLst/>
          </a:prstGeom>
          <a:solidFill>
            <a:srgbClr val="00D4FF">
              <a:alpha val="18000"/>
            </a:srgbClr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2016" y="2112264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817352" y="18928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C6B8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9125712" y="274320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0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Read Sentiment</a:t>
            </a:r>
            <a:endParaRPr lang="en-US" sz="1550" dirty="0"/>
          </a:p>
        </p:txBody>
      </p:sp>
      <p:sp>
        <p:nvSpPr>
          <p:cNvPr id="32" name="Text 26"/>
          <p:cNvSpPr/>
          <p:nvPr/>
        </p:nvSpPr>
        <p:spPr>
          <a:xfrm>
            <a:off x="9125712" y="3383280"/>
            <a:ext cx="202996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NLP (TextBlob) to customer reviews to surface drivers of dissatisfaction at low-rated outlets.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1118311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502920"/>
            <a:ext cx="45720" cy="457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502920"/>
            <a:ext cx="45720" cy="457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10853928" y="502920"/>
            <a:ext cx="45720" cy="457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5" name="Shape 3"/>
          <p:cNvSpPr/>
          <p:nvPr/>
        </p:nvSpPr>
        <p:spPr>
          <a:xfrm>
            <a:off x="10597896" y="502920"/>
            <a:ext cx="45720" cy="457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10341864" y="502920"/>
            <a:ext cx="45720" cy="457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51,717 listings, 17 raw fields, 30 city zones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Zomato Bangalore Restaurants (public Kaggle dataset). Cleaned via null-handling, cost/rate type conversion, and de-duplication before analysis.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141B2E"/>
          </a:solidFill>
          <a:ln w="12700">
            <a:solidFill>
              <a:srgbClr val="1E27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258568"/>
            <a:ext cx="3246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DDC9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51,717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77240" y="314553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 scraped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61688" y="21488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141B2E"/>
          </a:solidFill>
          <a:ln w="12700">
            <a:solidFill>
              <a:srgbClr val="1E27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98848" y="2258568"/>
            <a:ext cx="3246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B84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49,098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498848" y="314553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after cleaning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83296" y="21488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141B2E"/>
          </a:solidFill>
          <a:ln w="12700">
            <a:solidFill>
              <a:srgbClr val="1E27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0456" y="2258568"/>
            <a:ext cx="3246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DDC9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8,792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220456" y="314553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restaurant names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141B2E"/>
          </a:solidFill>
          <a:ln w="12700">
            <a:solidFill>
              <a:srgbClr val="1E27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3904488"/>
            <a:ext cx="3246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77240" y="479145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city zones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61688" y="379476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141B2E"/>
          </a:solidFill>
          <a:ln w="12700">
            <a:solidFill>
              <a:srgbClr val="1E27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498848" y="3904488"/>
            <a:ext cx="3246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B84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2,604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498848" y="479145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cuisine tags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83296" y="379476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141B2E"/>
          </a:solidFill>
          <a:ln w="12700">
            <a:solidFill>
              <a:srgbClr val="1E27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0456" y="3904488"/>
            <a:ext cx="3246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8220456" y="479145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types (Delivery, Dine-out...)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note: </a:t>
            </a:r>
            <a:pPr indent="0" marL="0">
              <a:buNone/>
            </a:pPr>
            <a:r>
              <a:rPr lang="en-US" sz="11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~2,277 listings were flagged "NEW" with zero votes and excluded from rating-dependent analysis; missing rate/cost fields were handled via targeted imputation.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18311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502920"/>
            <a:ext cx="45720" cy="457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502920"/>
            <a:ext cx="45720" cy="457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10853928" y="502920"/>
            <a:ext cx="45720" cy="457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5" name="Shape 3"/>
          <p:cNvSpPr/>
          <p:nvPr/>
        </p:nvSpPr>
        <p:spPr>
          <a:xfrm>
            <a:off x="10597896" y="502920"/>
            <a:ext cx="45720" cy="457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10341864" y="502920"/>
            <a:ext cx="45720" cy="457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FACILITIES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Most restaurants still skip digital convenience</a:t>
            </a:r>
            <a:endParaRPr lang="en-US" sz="28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31520" y="1600200"/>
          <a:ext cx="4206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731520" y="32461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DC9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58.9%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31520" y="37490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ORDER AVAILABLE</a:t>
            </a:r>
            <a:endParaRPr lang="en-US" sz="10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5212080" y="1600200"/>
          <a:ext cx="4206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5212080" y="32461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12.5%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5212080" y="37490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BOOKING AVAILABLE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9646920" y="1600200"/>
            <a:ext cx="1920240" cy="4206240"/>
          </a:xfrm>
          <a:prstGeom prst="roundRect">
            <a:avLst>
              <a:gd name="adj" fmla="val 4762"/>
            </a:avLst>
          </a:prstGeom>
          <a:solidFill>
            <a:srgbClr val="141B2E"/>
          </a:solidFill>
          <a:ln w="12700">
            <a:solidFill>
              <a:srgbClr val="1E274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1783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READ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9829800" y="2103120"/>
            <a:ext cx="1554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the top 100 costliest restaurants, 97% skip online ordering but 87% take table bookings — premium venues favour reservations over delivery.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1118311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502920"/>
            <a:ext cx="45720" cy="457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502920"/>
            <a:ext cx="45720" cy="457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10853928" y="502920"/>
            <a:ext cx="45720" cy="457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5" name="Shape 3"/>
          <p:cNvSpPr/>
          <p:nvPr/>
        </p:nvSpPr>
        <p:spPr>
          <a:xfrm>
            <a:off x="10597896" y="502920"/>
            <a:ext cx="45720" cy="457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10341864" y="502920"/>
            <a:ext cx="45720" cy="457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LANDSCAPE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0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Ratings cluster tight — booking access moves them more than delivery</a:t>
            </a:r>
            <a:endParaRPr lang="en-US" sz="2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0080" y="1691640"/>
          <a:ext cx="53949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309360" y="1691640"/>
            <a:ext cx="5257800" cy="1325880"/>
          </a:xfrm>
          <a:prstGeom prst="roundRect">
            <a:avLst>
              <a:gd name="adj" fmla="val 6897"/>
            </a:avLst>
          </a:prstGeom>
          <a:solidFill>
            <a:srgbClr val="141B2E"/>
          </a:solidFill>
          <a:ln w="12700">
            <a:solidFill>
              <a:srgbClr val="1E27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18288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DDC9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Most ratings fall between 3.5 – 4.5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492240" y="2221992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healthy right-skew — the median Bengaluru restaurant is decently reviewed, with genuinely poor (&lt;3) or exceptional (&gt;4.5) outlets in the minority.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309360" y="3200400"/>
            <a:ext cx="5257800" cy="1325880"/>
          </a:xfrm>
          <a:prstGeom prst="roundRect">
            <a:avLst>
              <a:gd name="adj" fmla="val 6897"/>
            </a:avLst>
          </a:prstGeom>
          <a:solidFill>
            <a:srgbClr val="141B2E"/>
          </a:solidFill>
          <a:ln w="12700">
            <a:solidFill>
              <a:srgbClr val="1E274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33375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D4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Koramangala dominates top ratings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492240" y="3730752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Koramangala 4th/5th/7th Blocks and BTM post the highest counts of 4.5★+ restaurants — reinforcing them as Bengaluru's food hubs (also the highest-volume zones).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309360" y="4709160"/>
            <a:ext cx="5257800" cy="1325880"/>
          </a:xfrm>
          <a:prstGeom prst="roundRect">
            <a:avLst>
              <a:gd name="adj" fmla="val 6897"/>
            </a:avLst>
          </a:prstGeom>
          <a:solidFill>
            <a:srgbClr val="141B2E"/>
          </a:solidFill>
          <a:ln w="12700">
            <a:solidFill>
              <a:srgbClr val="1E274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0" y="48463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B84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Booking access &gt; online delivery for ratings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492240" y="5239512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plots show table-booking-enabled restaurants skew meaningfully higher-rated; online-order availability shifts the rating curve only slightly.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18311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502920"/>
            <a:ext cx="45720" cy="457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502920"/>
            <a:ext cx="45720" cy="457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10853928" y="502920"/>
            <a:ext cx="45720" cy="457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5" name="Shape 3"/>
          <p:cNvSpPr/>
          <p:nvPr/>
        </p:nvSpPr>
        <p:spPr>
          <a:xfrm>
            <a:off x="10597896" y="502920"/>
            <a:ext cx="45720" cy="457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10341864" y="502920"/>
            <a:ext cx="45720" cy="457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VALUE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0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Higher cost tracks with better ratings — up to a point</a:t>
            </a:r>
            <a:endParaRPr lang="en-US" sz="26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0080" y="1600200"/>
          <a:ext cx="55778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40080" y="5029200"/>
            <a:ext cx="5577840" cy="1143000"/>
          </a:xfrm>
          <a:prstGeom prst="roundRect">
            <a:avLst>
              <a:gd name="adj" fmla="val 8000"/>
            </a:avLst>
          </a:prstGeom>
          <a:solidFill>
            <a:srgbClr val="141B2E"/>
          </a:solidFill>
          <a:ln w="12700">
            <a:solidFill>
              <a:srgbClr val="1E27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12064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Street, Brigade Road, Lavelle Road &amp; Indiranagar </a:t>
            </a:r>
            <a:pPr indent="0" marL="0">
              <a:buNone/>
            </a:pPr>
            <a:r>
              <a:rPr lang="en-US" sz="11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the highest concentration of premium (₹1,300+) restaurants — Bengaluru's fine-dining corridor.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492240" y="1600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MOST EXPENSIVE RESTAURANTS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920240"/>
          <a:ext cx="50292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91440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(₹)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4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C9B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Cirque Signature - The Leela Palace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C9B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Indiranagar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C9B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Cirque Signature - The Leela Palace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C9B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Airport 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C9B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Royal Afghan - ITC Windsor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C9B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Malleshwaram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C9B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Malties - Radisson Blu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C9B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Marathahalli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C9B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Brasserie - Le Meridien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C9B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Lavelle Road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6492240" y="3977640"/>
            <a:ext cx="5029200" cy="2194560"/>
          </a:xfrm>
          <a:prstGeom prst="roundRect">
            <a:avLst>
              <a:gd name="adj" fmla="val 4167"/>
            </a:avLst>
          </a:prstGeom>
          <a:solidFill>
            <a:srgbClr val="141B2E"/>
          </a:solidFill>
          <a:ln w="12700">
            <a:solidFill>
              <a:srgbClr val="1E274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67512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Cost vs. Rating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6675120" y="4480560"/>
            <a:ext cx="46634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above ₹4,000 show noticeably fewer low ratings — premium venues rarely disappoint.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sub-3-star ratings cluster below ₹1,500, hinting at a quality trade-off at the cheapest tier.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alone isn't destiny — plenty of sub-₹500 spots still rate 4★+.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118311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502920"/>
            <a:ext cx="45720" cy="457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502920"/>
            <a:ext cx="45720" cy="457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10853928" y="502920"/>
            <a:ext cx="45720" cy="457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5" name="Shape 3"/>
          <p:cNvSpPr/>
          <p:nvPr/>
        </p:nvSpPr>
        <p:spPr>
          <a:xfrm>
            <a:off x="10597896" y="502920"/>
            <a:ext cx="45720" cy="457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10341864" y="502920"/>
            <a:ext cx="45720" cy="457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&amp; HOW PEOPLE EAT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8229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0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Delivery dominates; North Indian leads a diverse cuisine mix</a:t>
            </a:r>
            <a:endParaRPr lang="en-US" sz="26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0080" y="1645920"/>
          <a:ext cx="5212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Chart 1" descr=""/>
          <p:cNvGraphicFramePr/>
          <p:nvPr/>
        </p:nvGraphicFramePr>
        <p:xfrm>
          <a:off x="6126480" y="1645920"/>
          <a:ext cx="54864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1118311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502920"/>
            <a:ext cx="45720" cy="457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502920"/>
            <a:ext cx="45720" cy="457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10853928" y="502920"/>
            <a:ext cx="45720" cy="457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5" name="Shape 3"/>
          <p:cNvSpPr/>
          <p:nvPr/>
        </p:nvSpPr>
        <p:spPr>
          <a:xfrm>
            <a:off x="10597896" y="502920"/>
            <a:ext cx="45720" cy="457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10341864" y="502920"/>
            <a:ext cx="45720" cy="457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OF DEMAND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8229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0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Koramangala &amp; BTM are Bengaluru's food gravity wells</a:t>
            </a:r>
            <a:endParaRPr lang="en-US" sz="26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0080" y="1645920"/>
          <a:ext cx="685800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772400" y="1645920"/>
            <a:ext cx="3794760" cy="2103120"/>
          </a:xfrm>
          <a:prstGeom prst="roundRect">
            <a:avLst>
              <a:gd name="adj" fmla="val 4348"/>
            </a:avLst>
          </a:prstGeom>
          <a:solidFill>
            <a:srgbClr val="141B2E"/>
          </a:solidFill>
          <a:ln w="12700">
            <a:solidFill>
              <a:srgbClr val="1E27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0" y="17830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9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Quick Bites leads format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955280" y="2148840"/>
            <a:ext cx="3429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17,922 listings are Quick Bites and 10,011 are Casual Dining — together over half the dataset. Five Star Chicken, McDonald's and Domino's top the Quick Bites brand count.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772400" y="3931920"/>
            <a:ext cx="3794760" cy="2240280"/>
          </a:xfrm>
          <a:prstGeom prst="roundRect">
            <a:avLst>
              <a:gd name="adj" fmla="val 4082"/>
            </a:avLst>
          </a:prstGeom>
          <a:solidFill>
            <a:srgbClr val="141B2E"/>
          </a:solidFill>
          <a:ln w="12700">
            <a:solidFill>
              <a:srgbClr val="1E274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55280" y="40690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Most-voted restaurant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955280" y="4434840"/>
            <a:ext cx="34290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Byg Brewski Brewing Company </a:t>
            </a:r>
            <a:pPr indent="0" marL="0">
              <a:buNone/>
            </a:pPr>
            <a:r>
              <a:rPr lang="en-US" sz="10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(Sarjapur Road) logs the highest vote count in the dataset at </a:t>
            </a:r>
            <a:pPr indent="0" marL="0">
              <a:buNone/>
            </a:pPr>
            <a:r>
              <a:rPr lang="en-US" sz="1050" b="1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16,832 votes</a:t>
            </a:r>
            <a:pPr indent="0" marL="0">
              <a:buNone/>
            </a:pPr>
            <a:r>
              <a:rPr lang="en-US" sz="10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clear signal of scale and popularity beyond just rating.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18311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502920"/>
            <a:ext cx="45720" cy="457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502920"/>
            <a:ext cx="45720" cy="457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10853928" y="502920"/>
            <a:ext cx="45720" cy="457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5" name="Shape 3"/>
          <p:cNvSpPr/>
          <p:nvPr/>
        </p:nvSpPr>
        <p:spPr>
          <a:xfrm>
            <a:off x="10597896" y="502920"/>
            <a:ext cx="45720" cy="457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10341864" y="502920"/>
            <a:ext cx="45720" cy="457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MODELLING — PART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0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Filling gaps and engineering a success signal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548640" cy="548640"/>
          </a:xfrm>
          <a:prstGeom prst="ellipse">
            <a:avLst/>
          </a:prstGeom>
          <a:solidFill>
            <a:srgbClr val="3DDC97">
              <a:alpha val="15000"/>
            </a:srgbClr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DC9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171907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AF0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Impute missing ratings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846320" y="1719072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 of ratings were missing. Trained a Random Forest / XGBoost regressor on votes &amp; cost to fill gaps before downstream modelling.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2359152"/>
            <a:ext cx="0" cy="429768"/>
          </a:xfrm>
          <a:prstGeom prst="line">
            <a:avLst/>
          </a:prstGeom>
          <a:noFill/>
          <a:ln w="19050">
            <a:solidFill>
              <a:srgbClr val="1E274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40080" y="2807208"/>
            <a:ext cx="548640" cy="548640"/>
          </a:xfrm>
          <a:prstGeom prst="ellipse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07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2743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AF0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Feature engineering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846320" y="274320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encoded online_order, book_table, location, rest_type &amp; listed_in(type) into 222 model-ready features.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3383280"/>
            <a:ext cx="0" cy="429768"/>
          </a:xfrm>
          <a:prstGeom prst="line">
            <a:avLst/>
          </a:prstGeom>
          <a:noFill/>
          <a:ln w="19050">
            <a:solidFill>
              <a:srgbClr val="1E274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40080" y="3831336"/>
            <a:ext cx="548640" cy="548640"/>
          </a:xfrm>
          <a:prstGeom prst="ellipse">
            <a:avLst/>
          </a:prstGeom>
          <a:solidFill>
            <a:srgbClr val="3DDC97">
              <a:alpha val="15000"/>
            </a:srgbClr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31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DC9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376732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AF0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Train / test split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846320" y="3767328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41,733 training rows, 7,365 held-out test rows (85/15 split) to evaluate generalisation.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" y="4407408"/>
            <a:ext cx="0" cy="429768"/>
          </a:xfrm>
          <a:prstGeom prst="line">
            <a:avLst/>
          </a:prstGeom>
          <a:noFill/>
          <a:ln w="19050">
            <a:solidFill>
              <a:srgbClr val="1E274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40080" y="4855464"/>
            <a:ext cx="548640" cy="548640"/>
          </a:xfrm>
          <a:prstGeom prst="ellipse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855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17320" y="47914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AF0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Binary success label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846320" y="4791456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predicted ratings into a Success / Failure label for a practical go/no-go read.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879592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141B2E"/>
          </a:solidFill>
          <a:ln w="12700">
            <a:solidFill>
              <a:srgbClr val="1E27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87959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quality:  </a:t>
            </a:r>
            <a:pPr indent="0" marL="0">
              <a:buNone/>
            </a:pPr>
            <a:r>
              <a:rPr lang="en-US" sz="12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R² = 0.639</a:t>
            </a:r>
            <a:pPr indent="0" marL="0">
              <a:buNone/>
            </a:pPr>
            <a:r>
              <a:rPr lang="en-US" sz="12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vs.   </a:t>
            </a:r>
            <a:pPr indent="0" marL="0">
              <a:buNone/>
            </a:pPr>
            <a:r>
              <a:rPr lang="en-US" sz="12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R² = 0.578</a:t>
            </a:r>
            <a:pPr indent="0" marL="0">
              <a:buNone/>
            </a:pPr>
            <a:r>
              <a:rPr lang="en-US" sz="12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on held-out rating predictions.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18311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502920"/>
            <a:ext cx="45720" cy="457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502920"/>
            <a:ext cx="45720" cy="457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10853928" y="502920"/>
            <a:ext cx="45720" cy="457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5" name="Shape 3"/>
          <p:cNvSpPr/>
          <p:nvPr/>
        </p:nvSpPr>
        <p:spPr>
          <a:xfrm>
            <a:off x="10597896" y="502920"/>
            <a:ext cx="45720" cy="457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10341864" y="502920"/>
            <a:ext cx="45720" cy="457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MODELLING — PART 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0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Six regressors compared, then converted to a 90.8%-accurate success call</a:t>
            </a:r>
            <a:endParaRPr lang="en-US" sz="2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0080" y="1691640"/>
          <a:ext cx="63093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223760" y="169164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 w="12700">
            <a:solidFill>
              <a:srgbClr val="1E27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60920" y="1801368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90.8%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360920" y="264261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success classification accuracy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281160" y="169164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141B2E"/>
          </a:solidFill>
          <a:ln w="12700">
            <a:solidFill>
              <a:srgbClr val="1E27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418320" y="1801368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B84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369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9418320" y="264261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2,270 new restaurants predicted a "Success"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223760" y="3246120"/>
            <a:ext cx="4023360" cy="2560320"/>
          </a:xfrm>
          <a:prstGeom prst="roundRect">
            <a:avLst>
              <a:gd name="adj" fmla="val 3571"/>
            </a:avLst>
          </a:prstGeom>
          <a:solidFill>
            <a:srgbClr val="141B2E"/>
          </a:solidFill>
          <a:ln w="12700">
            <a:solidFill>
              <a:srgbClr val="1E274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06640" y="3401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Applying the model to new outlets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406640" y="379476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2,270 recently listed ("NEW") restaurants with no votes yet, the trained classifier flagged </a:t>
            </a:r>
            <a:pPr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369 as likely Success</a:t>
            </a:r>
            <a:pPr indent="0" marL="0">
              <a:buNone/>
            </a:pPr>
            <a:r>
              <a:rPr lang="en-US" sz="11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1,901 as likely Failure</a:t>
            </a:r>
            <a:pPr indent="0" marL="0">
              <a:buNone/>
            </a:pPr>
            <a:r>
              <a:rPr lang="en-US" sz="11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based on location, cuisine, cost, and service-facility patterns learned from established outlets.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18311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502920"/>
            <a:ext cx="45720" cy="457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502920"/>
            <a:ext cx="45720" cy="457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10853928" y="502920"/>
            <a:ext cx="45720" cy="457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5" name="Shape 3"/>
          <p:cNvSpPr/>
          <p:nvPr/>
        </p:nvSpPr>
        <p:spPr>
          <a:xfrm>
            <a:off x="10597896" y="502920"/>
            <a:ext cx="45720" cy="457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10341864" y="502920"/>
            <a:ext cx="45720" cy="4572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ON CUSTOMER REVIEWS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0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Turning free-text reviews into a dissatisfaction signal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3502152" cy="3017520"/>
          </a:xfrm>
          <a:prstGeom prst="roundRect">
            <a:avLst>
              <a:gd name="adj" fmla="val 3030"/>
            </a:avLst>
          </a:prstGeom>
          <a:solidFill>
            <a:srgbClr val="141B2E"/>
          </a:solidFill>
          <a:ln w="12700">
            <a:solidFill>
              <a:srgbClr val="1E27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1965960"/>
            <a:ext cx="566928" cy="566928"/>
          </a:xfrm>
          <a:prstGeom prst="ellipse">
            <a:avLst/>
          </a:prstGeom>
          <a:solidFill>
            <a:srgbClr val="3DDC97">
              <a:alpha val="18000"/>
            </a:srgbClr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112264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96112" y="274320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Text mining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96112" y="3246120"/>
            <a:ext cx="29900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the reviews_list field for each restaurant into individual review snippets paired with their star rating.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25112" y="1691640"/>
            <a:ext cx="3502152" cy="3017520"/>
          </a:xfrm>
          <a:prstGeom prst="roundRect">
            <a:avLst>
              <a:gd name="adj" fmla="val 3030"/>
            </a:avLst>
          </a:prstGeom>
          <a:solidFill>
            <a:srgbClr val="141B2E"/>
          </a:solidFill>
          <a:ln w="12700">
            <a:solidFill>
              <a:srgbClr val="1E274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81144" y="1965960"/>
            <a:ext cx="566928" cy="566928"/>
          </a:xfrm>
          <a:prstGeom prst="ellipse">
            <a:avLst/>
          </a:prstGeom>
          <a:solidFill>
            <a:srgbClr val="FFB84D">
              <a:alpha val="18000"/>
            </a:srgb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112264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81144" y="274320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Polarity scoring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581144" y="3246120"/>
            <a:ext cx="29900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TextBlob to score review polarity, and WordCloud to surface the most frequent terms in low-rated reviews.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010144" y="1691640"/>
            <a:ext cx="3502152" cy="3017520"/>
          </a:xfrm>
          <a:prstGeom prst="roundRect">
            <a:avLst>
              <a:gd name="adj" fmla="val 3030"/>
            </a:avLst>
          </a:prstGeom>
          <a:solidFill>
            <a:srgbClr val="141B2E"/>
          </a:solidFill>
          <a:ln w="12700">
            <a:solidFill>
              <a:srgbClr val="1E274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66176" y="1965960"/>
            <a:ext cx="566928" cy="566928"/>
          </a:xfrm>
          <a:prstGeom prst="ellipse">
            <a:avLst/>
          </a:prstGeom>
          <a:solidFill>
            <a:srgbClr val="3DDC97">
              <a:alpha val="18000"/>
            </a:srgbClr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112264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66176" y="274320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Correlating dissatisfaction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266176" y="3246120"/>
            <a:ext cx="29900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Cross-referenced negative sentiment against sub-3★ restaurants to surface recurring complaint themes (service pace, order accuracy, consistency).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40080" y="49377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141B2E"/>
          </a:solidFill>
          <a:ln w="12700">
            <a:solidFill>
              <a:srgbClr val="1E274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68680" y="4937760"/>
            <a:ext cx="10424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note:  </a:t>
            </a:r>
            <a:pPr indent="0" marL="0">
              <a:buNone/>
            </a:pPr>
            <a:r>
              <a:rPr lang="en-US" sz="11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review text was available for a subset of restaurants in this dataset (287 outlets with populated reviews_list). Sentiment analysis was applied to this subset; broader review coverage would sharpen the signal further.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1118311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3DDC97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00D4FF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raw listings to a working success predictor</a:t>
            </a:r>
            <a:endParaRPr lang="en-US" sz="2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773936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&amp; profiled 49K+ restaurant records, surfacing clear gaps in digital adoption (online order, booking).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5176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551176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ratings, pricing and cuisine trends across 30 Bengaluru zones to identify premium and high-volume hubs.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29000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3328416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content-based recommender plus a 90.8%-accurate success classifier for new restaurant listings.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206240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43000" y="4105656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in NLP sentiment analysis to connect review language with low ratings.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8686800" y="1828800"/>
            <a:ext cx="2880360" cy="3246120"/>
          </a:xfrm>
          <a:prstGeom prst="roundRect">
            <a:avLst>
              <a:gd name="adj" fmla="val 3175"/>
            </a:avLst>
          </a:prstGeom>
          <a:solidFill>
            <a:srgbClr val="141B2E"/>
          </a:solidFill>
          <a:ln w="12700">
            <a:solidFill>
              <a:srgbClr val="1E2740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8869680" y="19659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8869680" y="23317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Pandas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8869680" y="28346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/ Seaborn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8869680" y="33375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8869680" y="384048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8869680" y="43434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TextBlob + WordCloud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FLAVORLYTICS  //  Restaurant Analytics, Bengaluru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118311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Flavorlytics - Restaurant Analytics</dc:title>
  <dc:subject>PptxGenJS Presentation</dc:subject>
  <dc:creator>Flavorlytics</dc:creator>
  <cp:lastModifiedBy>Flavorlytics</cp:lastModifiedBy>
  <cp:revision>1</cp:revision>
  <dcterms:created xsi:type="dcterms:W3CDTF">2026-07-02T19:03:43Z</dcterms:created>
  <dcterms:modified xsi:type="dcterms:W3CDTF">2026-07-02T19:03:43Z</dcterms:modified>
</cp:coreProperties>
</file>